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2" d="100"/>
          <a:sy n="132" d="100"/>
        </p:scale>
        <p:origin x="1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3A5F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E3A5F"/>
                </a:solidFill>
                <a:latin typeface="Arial"/>
              </a:rPr>
              <a:t>Flip Rates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Flip Rate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FA4-FF41-96A5-E5E98A270069}"/>
              </c:ext>
            </c:extLst>
          </c:dPt>
          <c:dPt>
            <c:idx val="1"/>
            <c:invertIfNegative val="0"/>
            <c:bubble3D val="0"/>
            <c:spPr>
              <a:solidFill>
                <a:srgbClr val="6474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FA4-FF41-96A5-E5E98A270069}"/>
              </c:ext>
            </c:extLst>
          </c:dPt>
          <c:dPt>
            <c:idx val="2"/>
            <c:invertIfNegative val="0"/>
            <c:bubble3D val="0"/>
            <c:spPr>
              <a:solidFill>
                <a:srgbClr val="E76F5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FA4-FF41-96A5-E5E98A270069}"/>
              </c:ext>
            </c:extLst>
          </c:dPt>
          <c:dPt>
            <c:idx val="3"/>
            <c:invertIfNegative val="0"/>
            <c:bubble3D val="0"/>
            <c:spPr>
              <a:solidFill>
                <a:srgbClr val="1E3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FA4-FF41-96A5-E5E98A27006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Family A
ADE</c:v>
                </c:pt>
                <c:pt idx="1">
                  <c:v>Family A
non-ADE</c:v>
                </c:pt>
                <c:pt idx="2">
                  <c:v>Family B
ADE</c:v>
                </c:pt>
                <c:pt idx="3">
                  <c:v>Family C
ADE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74.5</c:v>
                </c:pt>
                <c:pt idx="1">
                  <c:v>1.7</c:v>
                </c:pt>
                <c:pt idx="2">
                  <c:v>13.8</c:v>
                </c:pt>
                <c:pt idx="3">
                  <c:v>30.2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FA4-FF41-96A5-E5E98A27006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E3A5F"/>
                </a:solidFill>
                <a:latin typeface="Arial"/>
              </a:defRPr>
            </a:pPr>
            <a:r>
              <a:rPr lang="en-US" sz="1000" b="0" i="0" u="none" strike="noStrike">
                <a:solidFill>
                  <a:srgbClr val="1E3A5F"/>
                </a:solidFill>
                <a:latin typeface="Arial"/>
              </a:rPr>
              <a:t>Flip Rate (%) by Negation Pattern (red = &lt;50%, model mostly ignores)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Flip Rate %</c:v>
                </c:pt>
              </c:strCache>
            </c:strRef>
          </c:tx>
          <c:spPr>
            <a:solidFill>
              <a:srgbClr val="E76F5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BF7-0F48-BC11-2E0E1707989A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9BF7-0F48-BC11-2E0E1707989A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9BF7-0F48-BC11-2E0E1707989A}"/>
              </c:ext>
            </c:extLst>
          </c:dPt>
          <c:dPt>
            <c:idx val="3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BF7-0F48-BC11-2E0E1707989A}"/>
              </c:ext>
            </c:extLst>
          </c:dPt>
          <c:dPt>
            <c:idx val="4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BF7-0F48-BC11-2E0E1707989A}"/>
              </c:ext>
            </c:extLst>
          </c:dPt>
          <c:dPt>
            <c:idx val="5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9BF7-0F48-BC11-2E0E1707989A}"/>
              </c:ext>
            </c:extLst>
          </c:dPt>
          <c:dPt>
            <c:idx val="6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9BF7-0F48-BC11-2E0E1707989A}"/>
              </c:ext>
            </c:extLst>
          </c:dPt>
          <c:dPt>
            <c:idx val="7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9BF7-0F48-BC11-2E0E1707989A}"/>
              </c:ext>
            </c:extLst>
          </c:dPt>
          <c:dPt>
            <c:idx val="8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9BF7-0F48-BC11-2E0E1707989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reported</c:v>
                </c:pt>
                <c:pt idx="1">
                  <c:v>following</c:v>
                </c:pt>
                <c:pt idx="2">
                  <c:v>assoc. with</c:v>
                </c:pt>
                <c:pt idx="3">
                  <c:v>resulted in</c:v>
                </c:pt>
                <c:pt idx="4">
                  <c:v>caused</c:v>
                </c:pt>
                <c:pt idx="5">
                  <c:v>induced</c:v>
                </c:pt>
                <c:pt idx="6">
                  <c:v>experienced</c:v>
                </c:pt>
                <c:pt idx="7">
                  <c:v>developed</c:v>
                </c:pt>
                <c:pt idx="8">
                  <c:v>presented with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7.1</c:v>
                </c:pt>
                <c:pt idx="1">
                  <c:v>20</c:v>
                </c:pt>
                <c:pt idx="2">
                  <c:v>38.9</c:v>
                </c:pt>
                <c:pt idx="3">
                  <c:v>50</c:v>
                </c:pt>
                <c:pt idx="4">
                  <c:v>57.1</c:v>
                </c:pt>
                <c:pt idx="5">
                  <c:v>59.1</c:v>
                </c:pt>
                <c:pt idx="6">
                  <c:v>66.7</c:v>
                </c:pt>
                <c:pt idx="7">
                  <c:v>74.5</c:v>
                </c:pt>
                <c:pt idx="8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9BF7-0F48-BC11-2E0E1707989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E3A5F"/>
                </a:solidFill>
                <a:latin typeface="Arial"/>
              </a:defRPr>
            </a:pPr>
            <a:r>
              <a:rPr lang="en-US" sz="1000" b="0" i="0" u="none" strike="noStrike">
                <a:solidFill>
                  <a:srgbClr val="1E3A5F"/>
                </a:solidFill>
                <a:latin typeface="Arial"/>
              </a:rPr>
              <a:t>Min. Drug Tokens Needed to Flip Prediction (n=200 flip sentences)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sentences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EF9-7D45-A259-83DB4D40CD65}"/>
              </c:ext>
            </c:extLst>
          </c:dPt>
          <c:dPt>
            <c:idx val="1"/>
            <c:invertIfNegative val="0"/>
            <c:bubble3D val="0"/>
            <c:spPr>
              <a:solidFill>
                <a:srgbClr val="1E3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EF9-7D45-A259-83DB4D40CD65}"/>
              </c:ext>
            </c:extLst>
          </c:dPt>
          <c:dPt>
            <c:idx val="2"/>
            <c:invertIfNegative val="0"/>
            <c:bubble3D val="0"/>
            <c:spPr>
              <a:solidFill>
                <a:srgbClr val="E76F5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EF9-7D45-A259-83DB4D40CD65}"/>
              </c:ext>
            </c:extLst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EF9-7D45-A259-83DB4D40CD65}"/>
              </c:ext>
            </c:extLst>
          </c:dPt>
          <c:dPt>
            <c:idx val="4"/>
            <c:invertIfNegative val="0"/>
            <c:bubble3D val="0"/>
            <c:spPr>
              <a:solidFill>
                <a:srgbClr val="6474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EF9-7D45-A259-83DB4D40CD6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 drug token</c:v>
                </c:pt>
                <c:pt idx="1">
                  <c:v>2 drug tokens</c:v>
                </c:pt>
                <c:pt idx="2">
                  <c:v>3 drug tokens</c:v>
                </c:pt>
                <c:pt idx="3">
                  <c:v>4 drug tokens</c:v>
                </c:pt>
                <c:pt idx="4">
                  <c:v>5 drug tokens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</c:v>
                </c:pt>
                <c:pt idx="1">
                  <c:v>14</c:v>
                </c:pt>
                <c:pt idx="2">
                  <c:v>3</c:v>
                </c:pt>
                <c:pt idx="3">
                  <c:v>0.5</c:v>
                </c:pt>
                <c:pt idx="4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EF9-7D45-A259-83DB4D40CD6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2794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telshrey40/Revolutionizing-Clinical-Safety-Explainable-AI-for-Adverse-Drug-Event-Detection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1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Drug Mentions What Really Drive ADE Predictions?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A8DADC"/>
                </a:solidFill>
              </a:rPr>
              <a:t>Probing BioBERT with Counterfactual Edits, SHAP, LIME &amp; Integrated Gradients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2606040"/>
            <a:ext cx="6400800" cy="0"/>
          </a:xfrm>
          <a:prstGeom prst="line">
            <a:avLst/>
          </a:prstGeom>
          <a:noFill/>
          <a:ln w="1905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</a:rPr>
              <a:t>Abhishek Jani  ·  Shrey Patel  ·  Mustafa Adil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45920" y="3749040"/>
            <a:ext cx="1737360" cy="1005840"/>
          </a:xfrm>
          <a:prstGeom prst="rect">
            <a:avLst/>
          </a:prstGeom>
          <a:solidFill>
            <a:srgbClr val="2A9D8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645920" y="3794760"/>
            <a:ext cx="173736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96.2%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645920" y="4352544"/>
            <a:ext cx="1737360" cy="3822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Model Accuracy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0" y="3749040"/>
            <a:ext cx="1737360" cy="100584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0" y="3794760"/>
            <a:ext cx="173736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2.46×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657600" y="4352544"/>
            <a:ext cx="1737360" cy="3822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Sensitivity Ratio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3749040"/>
            <a:ext cx="1737360" cy="1005840"/>
          </a:xfrm>
          <a:prstGeom prst="rect">
            <a:avLst/>
          </a:prstGeom>
          <a:solidFill>
            <a:srgbClr val="E76F51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669280" y="3794760"/>
            <a:ext cx="173736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42.8%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5669280" y="4352544"/>
            <a:ext cx="1737360" cy="3822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Ignore Negation</a:t>
            </a:r>
            <a:endParaRPr lang="en-US" sz="11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D126B416-4491-413A-619D-63F8592E78F6}"/>
              </a:ext>
            </a:extLst>
          </p:cNvPr>
          <p:cNvSpPr/>
          <p:nvPr/>
        </p:nvSpPr>
        <p:spPr>
          <a:xfrm>
            <a:off x="539496" y="31318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CS 671: Interpretability &amp; Explainability AI  ·  Spring 2026  ·  Rutgers University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64008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Context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51206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64008" cy="10972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3327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ADE Detection Matters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344168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Missed adverse drug events delay treatment and harm patients. Automated detection from clinical notes is safety-critical.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194560"/>
            <a:ext cx="51206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64008" cy="10972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26771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BioBERT Gets 95.4% F1…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578608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Strong benchmark performance, but clinicians refuse to trust models they cannot explain.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429000"/>
            <a:ext cx="51206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3429000"/>
            <a:ext cx="64008" cy="10972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5021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…But Is It Faithful?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813048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Existing methods (attention, LIME) show correlations, not causation. We need a diagnostic that tests what the model actually relies 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0720" y="960120"/>
            <a:ext cx="3017520" cy="365760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760720" y="10972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A9D8F"/>
                </a:solidFill>
              </a:rPr>
              <a:t>The Gap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97880" y="16459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</a:rPr>
              <a:t>Attention &amp; LIME </a:t>
            </a:r>
            <a:r>
              <a:rPr lang="en-US" sz="1200" dirty="0">
                <a:solidFill>
                  <a:srgbClr val="FFFFFF"/>
                </a:solidFill>
              </a:rPr>
              <a:t>show which tokens </a:t>
            </a:r>
            <a:r>
              <a:rPr lang="en-US" sz="1200" b="1" i="1" dirty="0">
                <a:solidFill>
                  <a:srgbClr val="E76F51"/>
                </a:solidFill>
              </a:rPr>
              <a:t>correlate </a:t>
            </a:r>
            <a:r>
              <a:rPr lang="en-US" sz="1200" dirty="0">
                <a:solidFill>
                  <a:srgbClr val="FFFFFF"/>
                </a:solidFill>
              </a:rPr>
              <a:t>with predictions.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2560320"/>
            <a:ext cx="2560320" cy="0"/>
          </a:xfrm>
          <a:prstGeom prst="line">
            <a:avLst/>
          </a:prstGeom>
          <a:noFill/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897880" y="26974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We need methods that test </a:t>
            </a:r>
            <a:r>
              <a:rPr lang="en-US" sz="1200" b="1" dirty="0">
                <a:solidFill>
                  <a:srgbClr val="A8DADC"/>
                </a:solidFill>
              </a:rPr>
              <a:t>causation</a:t>
            </a:r>
            <a:r>
              <a:rPr lang="en-US" sz="1200" dirty="0">
                <a:solidFill>
                  <a:srgbClr val="FFFFFF"/>
                </a:solidFill>
              </a:rPr>
              <a:t> — not just correlation.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3611880"/>
            <a:ext cx="2560320" cy="0"/>
          </a:xfrm>
          <a:prstGeom prst="line">
            <a:avLst/>
          </a:prstGeom>
          <a:noFill/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897880" y="37490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2E8F0"/>
                </a:solidFill>
              </a:rPr>
              <a:t>We use 5 XAI methods and compare their answers.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1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A9D8F"/>
                </a:solidFill>
              </a:rPr>
              <a:t>Research/Project Question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7863840" cy="1417320"/>
          </a:xfrm>
          <a:prstGeom prst="rect">
            <a:avLst/>
          </a:prstGeom>
          <a:solidFill>
            <a:srgbClr val="162B3E"/>
          </a:solidFill>
          <a:ln/>
          <a:effectLst>
            <a:outerShdw blurRad="127000" dist="508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960120"/>
            <a:ext cx="82296" cy="14173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051560"/>
            <a:ext cx="7406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</a:rPr>
              <a:t>"Do drug name mentions causally drive BioBERT's ADE predictions or do contextual symptom terms contribute equally, and what does this reveal about model faithfulness?"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2651760" cy="2057400"/>
          </a:xfrm>
          <a:prstGeom prst="rect">
            <a:avLst/>
          </a:prstGeom>
          <a:solidFill>
            <a:srgbClr val="1A2F44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2651760" cy="4114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H1: Drug Dependence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3127248"/>
            <a:ext cx="243230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Masking drug tokens flips &gt;60% of ADE-positive predictions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2651760"/>
            <a:ext cx="2651760" cy="2057400"/>
          </a:xfrm>
          <a:prstGeom prst="rect">
            <a:avLst/>
          </a:prstGeom>
          <a:solidFill>
            <a:srgbClr val="1A2F44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91840" y="2651760"/>
            <a:ext cx="2651760" cy="4114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8328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H2: Lexical Brittleness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01568" y="3127248"/>
            <a:ext cx="243230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Brand-for-generic substitution causes non-trivial flip rate (&gt;8%)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651760"/>
            <a:ext cx="2651760" cy="2057400"/>
          </a:xfrm>
          <a:prstGeom prst="rect">
            <a:avLst/>
          </a:prstGeom>
          <a:solidFill>
            <a:srgbClr val="1A2F44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26480" y="2651760"/>
            <a:ext cx="2651760" cy="4114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H3: Asymmetric Sensitivity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36208" y="3127248"/>
            <a:ext cx="243230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Drug flip rate ≫ Symptom flip rate — Sensitivity Ratio &gt; 2.0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64008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</a:rPr>
              <a:t>Methods &amp; Approach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9D8F"/>
                </a:solidFill>
              </a:rPr>
              <a:t>Three Counterfactual Families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57200" cy="7315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14400" y="1371600"/>
            <a:ext cx="438912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058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Drug Name Masking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69164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6,821 ADE + 5,093 non-ADE sentences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Replace drug spans with [MASK]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457200" cy="7315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23774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B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914400" y="2377440"/>
            <a:ext cx="438912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5840" y="24231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Brand/Generic Substitution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69748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5,142 ADE sentences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RxNorm API → 540 brand mappings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383280"/>
            <a:ext cx="457200" cy="7315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338328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C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14400" y="3383280"/>
            <a:ext cx="438912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42900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Symptom Term Masking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37033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6,820 ADE sentences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2,983 symptom terms from relation corpus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577840" y="9601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9D8F"/>
                </a:solidFill>
              </a:rPr>
              <a:t>+ 3 Attribution Methods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77840" y="1371600"/>
            <a:ext cx="338328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577840" y="1371600"/>
            <a:ext cx="64008" cy="7315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715000" y="14173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SHAP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715000" y="169164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Shapley value attribution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6,821 sentences, Text masker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77840" y="2377440"/>
            <a:ext cx="338328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577840" y="2377440"/>
            <a:ext cx="64008" cy="7315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715000" y="24231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LIME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15000" y="269748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Local surrogate model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500 perturbation samples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77840" y="3383280"/>
            <a:ext cx="338328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577840" y="3383280"/>
            <a:ext cx="64008" cy="7315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715000" y="3429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IG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715000" y="37033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Integrated Gradients (captum)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Embedding layer, 50 steps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4343400"/>
            <a:ext cx="8412480" cy="594360"/>
          </a:xfrm>
          <a:prstGeom prst="rect">
            <a:avLst/>
          </a:prstGeom>
          <a:solidFill>
            <a:srgbClr val="1E3A5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8640" y="440740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9D8F"/>
                </a:solidFill>
              </a:rPr>
              <a:t>Headline Metric: </a:t>
            </a:r>
            <a:r>
              <a:rPr lang="en-US" sz="1300" dirty="0">
                <a:solidFill>
                  <a:srgbClr val="FFFFFF"/>
                </a:solidFill>
              </a:rPr>
              <a:t>Sensitivity Ratio = Drug Flip Rate / Symptom Flip Rate   </a:t>
            </a:r>
            <a:r>
              <a:rPr lang="en-US" sz="1300" b="1" dirty="0">
                <a:solidFill>
                  <a:srgbClr val="F4A261"/>
                </a:solidFill>
              </a:rPr>
              <a:t>Target: &gt; 2.0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64008" cy="5029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</a:rPr>
              <a:t>Results &amp; Experiments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86868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623560" y="868680"/>
            <a:ext cx="1645920" cy="1463040"/>
          </a:xfrm>
          <a:prstGeom prst="rect">
            <a:avLst/>
          </a:prstGeom>
          <a:solidFill>
            <a:srgbClr val="2A9D8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623560" y="10058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2.46×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623560" y="158191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Sensitivity Ratio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23560" y="18745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Drug vs Symptom (p&lt;0.001)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406640" y="868680"/>
            <a:ext cx="1645920" cy="1463040"/>
          </a:xfrm>
          <a:prstGeom prst="rect">
            <a:avLst/>
          </a:prstGeom>
          <a:solidFill>
            <a:srgbClr val="E76F5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406640" y="10058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2.87×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7406640" y="158191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LIME Drug Ratio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406640" y="18745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Strongest attribution signal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623560" y="2514600"/>
            <a:ext cx="1645920" cy="1463040"/>
          </a:xfrm>
          <a:prstGeom prst="rect">
            <a:avLst/>
          </a:prstGeom>
          <a:solidFill>
            <a:srgbClr val="1E3A5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623560" y="265176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82%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5623560" y="322783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1-Drug Sufficient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623560" y="35204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Minimality — single token flip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406640" y="2514600"/>
            <a:ext cx="1645920" cy="1463040"/>
          </a:xfrm>
          <a:prstGeom prst="rect">
            <a:avLst/>
          </a:prstGeom>
          <a:solidFill>
            <a:srgbClr val="F4A261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406640" y="265176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42.8%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7406640" y="322783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Ignore Negation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406640" y="35204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Clinical safety concern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365760" y="42062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Method Comparison: Drug/Non-drug Ratio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3022614"/>
              </p:ext>
            </p:extLst>
          </p:nvPr>
        </p:nvGraphicFramePr>
        <p:xfrm>
          <a:off x="365760" y="4526280"/>
          <a:ext cx="8412480" cy="5486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Attention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SHAP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Integ. Grad.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Counterfactual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LIME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3A5F"/>
                          </a:solidFill>
                        </a:rPr>
                        <a:t>Drug Ratio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76F51"/>
                          </a:solidFill>
                        </a:rPr>
                        <a:t>0.59×  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3A5F"/>
                          </a:solidFill>
                        </a:rPr>
                        <a:t>1.23×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3A5F"/>
                          </a:solidFill>
                        </a:rPr>
                        <a:t>1.54×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2.46×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76F51"/>
                          </a:solidFill>
                        </a:rPr>
                        <a:t>2.87×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1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A261"/>
                </a:solidFill>
              </a:rPr>
              <a:t>Key Takeaway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188720"/>
          </a:xfrm>
          <a:prstGeom prst="rect">
            <a:avLst/>
          </a:prstGeom>
          <a:solidFill>
            <a:srgbClr val="162B3E"/>
          </a:solidFill>
          <a:ln/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" cy="11887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7818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</a:rPr>
              <a:t>Yes — drug name tokens are the primary causal driver. Five independent XAI methods confirm disproportionate drug-token reliance (Sensitivity Ratio 2.46×, p&lt;0.001), with LIME showing the strongest signal at 2.87×. The model's predictions are more about recognizing drug names than understanding drug-symptom relationships.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2651760" cy="2468880"/>
          </a:xfrm>
          <a:prstGeom prst="rect">
            <a:avLst/>
          </a:prstGeom>
          <a:solidFill>
            <a:srgbClr val="1A2F44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2651760" cy="7315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235915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</a:rPr>
              <a:t>🔬  Attention Misleads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Attention shows 0.59× — opposite of all other methods. Attention-based explanations are unfaithful in clinical NLP.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2240280"/>
            <a:ext cx="2651760" cy="2468880"/>
          </a:xfrm>
          <a:prstGeom prst="rect">
            <a:avLst/>
          </a:prstGeom>
          <a:solidFill>
            <a:srgbClr val="1A2F44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91840" y="2240280"/>
            <a:ext cx="2651760" cy="73152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29000" y="235915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6F51"/>
                </a:solidFill>
              </a:rPr>
              <a:t>⚠  Negation Is Ignored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42.8% of sentences are unaffected by negation. 'Did not report' reads same as 'reported' to the model.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2240280"/>
            <a:ext cx="2651760" cy="2468880"/>
          </a:xfrm>
          <a:prstGeom prst="rect">
            <a:avLst/>
          </a:prstGeom>
          <a:solidFill>
            <a:srgbClr val="1A2F44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26480" y="2240280"/>
            <a:ext cx="265176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63640" y="235915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9D8F"/>
                </a:solidFill>
              </a:rPr>
              <a:t>🎯  Methods Must Be Compared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</a:rPr>
              <a:t>SHAP, LIME, IG, and counterfactuals agree on direction but disagree on magnitude. Multi-method evaluation is essential.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64008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</a:rPr>
              <a:t>Limitations &amp; Future Work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6F51"/>
                </a:solidFill>
              </a:rPr>
              <a:t>Limitations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4805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64008" cy="7315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426464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Small attribution sample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68249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SHAP/LIME/IG on 6,821 sentences only — computational cost limits scale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240280"/>
            <a:ext cx="44805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64008" cy="7315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295144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Single model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55117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All findings are BioBERT-specific; generalization to PubMedBERT, ClinicalBERT unverified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108960"/>
            <a:ext cx="44805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3108960"/>
            <a:ext cx="64008" cy="7315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163824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RxNorm coverage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41985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Only 51.5% of drugs mapped to brand names — brittleness finding likely understated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977640"/>
            <a:ext cx="44805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977640"/>
            <a:ext cx="64008" cy="7315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4032504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Binary flip rate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28853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Confidence delta adds nuance but sub-threshold signal still partially invisible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120640" y="960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9D8F"/>
                </a:solidFill>
              </a:rPr>
              <a:t>Future Work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20640" y="1371600"/>
            <a:ext cx="457200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20640" y="137160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669280" y="1371600"/>
            <a:ext cx="32004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60720" y="139903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Multi-model comparison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60720" y="162763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Replicate on PubMedBERT and ClinicalBERT to test generalizability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120640" y="2075688"/>
            <a:ext cx="457200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20640" y="2075688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669280" y="2075688"/>
            <a:ext cx="32004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760720" y="21031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Brand augmentation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60720" y="23317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Re-train on brand-augmented data to directly validate brittleness fix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120640" y="2779776"/>
            <a:ext cx="457200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120640" y="2779776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669280" y="2779776"/>
            <a:ext cx="32004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760720" y="280720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Larger attribution set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760720" y="303580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Scale SHAP/LIME to 200+ sentences with GPU batching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120640" y="3483864"/>
            <a:ext cx="457200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120640" y="3483864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669280" y="3483864"/>
            <a:ext cx="32004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760720" y="3511296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Negation robustness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760720" y="3739896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Train with negation-augmented data; develop negation-aware loss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120640" y="4187952"/>
            <a:ext cx="457200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120640" y="418795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669280" y="4187952"/>
            <a:ext cx="32004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760720" y="4215384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Deployment evaluation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760720" y="4443984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Prospective study on real clinical notes with clinician feedback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1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2A9D8F"/>
                </a:solidFill>
              </a:rPr>
              <a:t>Questions?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828800" y="1828800"/>
            <a:ext cx="5486400" cy="0"/>
          </a:xfrm>
          <a:prstGeom prst="line">
            <a:avLst/>
          </a:prstGeom>
          <a:noFill/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1828800" cy="1051560"/>
          </a:xfrm>
          <a:prstGeom prst="rect">
            <a:avLst/>
          </a:prstGeom>
          <a:solidFill>
            <a:srgbClr val="162B3E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1828800" cy="6309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2.46×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40080" y="2688336"/>
            <a:ext cx="1828800" cy="3995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Sensitivity Ratio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057400"/>
            <a:ext cx="18288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51760" y="2057400"/>
            <a:ext cx="1828800" cy="1051560"/>
          </a:xfrm>
          <a:prstGeom prst="rect">
            <a:avLst/>
          </a:prstGeom>
          <a:solidFill>
            <a:srgbClr val="162B3E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828800" cy="6309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74.5%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651760" y="2688336"/>
            <a:ext cx="1828800" cy="3995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Drug Mask Flip Rate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51760" y="2057400"/>
            <a:ext cx="1828800" cy="6400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63440" y="2057400"/>
            <a:ext cx="1828800" cy="1051560"/>
          </a:xfrm>
          <a:prstGeom prst="rect">
            <a:avLst/>
          </a:prstGeom>
          <a:solidFill>
            <a:srgbClr val="162B3E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63440" y="2103120"/>
            <a:ext cx="1828800" cy="6309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30.2%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663440" y="2688336"/>
            <a:ext cx="1828800" cy="3995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Symptom Mask Flip Rate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057400"/>
            <a:ext cx="1828800" cy="640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2057400"/>
            <a:ext cx="1828800" cy="1051560"/>
          </a:xfrm>
          <a:prstGeom prst="rect">
            <a:avLst/>
          </a:prstGeom>
          <a:solidFill>
            <a:srgbClr val="162B3E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2103120"/>
            <a:ext cx="1828800" cy="6309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42.8%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675120" y="2688336"/>
            <a:ext cx="1828800" cy="3995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Ignore Negation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75120" y="2057400"/>
            <a:ext cx="1828800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</a:rPr>
              <a:t>Abhishek Jani · Shrey Patel · Mustafa Adil</a:t>
            </a:r>
            <a:endParaRPr lang="en-US" sz="13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92DE7315-724A-B2D6-40C2-36D5A236BEAD}"/>
              </a:ext>
            </a:extLst>
          </p:cNvPr>
          <p:cNvSpPr/>
          <p:nvPr/>
        </p:nvSpPr>
        <p:spPr>
          <a:xfrm>
            <a:off x="54864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CS 671: Interpretability &amp; Explainability AI  ·  Spring 2026  ·  Rutgers University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64008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</a:rPr>
              <a:t>Team Contributions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384048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Team Member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Primary Responsibilities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Specific Contributions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</a:rPr>
                        <a:t>Abhishek Jani</a:t>
                      </a:r>
                      <a:endParaRPr lang="en-US" sz="1100" dirty="0"/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</a:rPr>
                        <a:t>(aj1121)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BioBERT fine-tuning</a:t>
                      </a:r>
                      <a:endParaRPr lang="en-US" sz="1100" dirty="0"/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Evaluation pipeline</a:t>
                      </a:r>
                      <a:endParaRPr lang="en-US" sz="1100" dirty="0"/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Family A &amp; C masking</a:t>
                      </a:r>
                      <a:endParaRPr lang="en-US" sz="1100" dirty="0"/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GitHub repository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</a:rPr>
                        <a:t>Model training (96.2% acc), batched inference, drug/symptom masking implementation, confidence score analysis, statistical tests (McNemar, bootstrap CIs)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</a:rPr>
                        <a:t>Shrey Patel</a:t>
                      </a:r>
                      <a:endParaRPr lang="en-US" sz="1100" dirty="0"/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</a:rPr>
                        <a:t>(sp2675)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Counterfactual generation</a:t>
                      </a:r>
                      <a:endParaRPr lang="en-US" sz="1100" dirty="0"/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Family B (brand sub)</a:t>
                      </a:r>
                      <a:endParaRPr lang="en-US" sz="1100" dirty="0"/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RxNorm API mapping</a:t>
                      </a:r>
                      <a:endParaRPr lang="en-US" sz="1100" dirty="0"/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Minimality analysis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</a:rPr>
                        <a:t>RxNorm brand mapping pipeline (540/1049 generics), brand substitution experiments, minimality analysis (82% single-drug finding), SHAP interaction analysis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</a:rPr>
                        <a:t>Mustafa Adil</a:t>
                      </a:r>
                      <a:endParaRPr lang="en-US" sz="1100" dirty="0"/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</a:rPr>
                        <a:t>(ma2398)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SHAP / LIME / IG analysis</a:t>
                      </a:r>
                      <a:endParaRPr lang="en-US" sz="1100" dirty="0"/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Negation counterfactuals</a:t>
                      </a:r>
                      <a:endParaRPr lang="en-US" sz="1100" dirty="0"/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Attention visualization</a:t>
                      </a:r>
                      <a:endParaRPr lang="en-US" sz="1100" dirty="0"/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</a:rPr>
                        <a:t>Figures &amp; write-up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</a:rPr>
                        <a:t>SHAP, LIME, Integrated Gradients implementation, negation counterfactual experiments, attention heatmaps, all 8 result figures, final report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1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A9D8F"/>
                </a:solidFill>
              </a:rPr>
              <a:t>GitHub Repository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solidFill>
            <a:srgbClr val="162B3E"/>
          </a:solidFill>
          <a:ln/>
          <a:effectLst>
            <a:outerShdw blurRad="127000" dist="508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hlinkClick r:id="rId3"/>
          </p:cNvPr>
          <p:cNvSpPr/>
          <p:nvPr/>
        </p:nvSpPr>
        <p:spPr>
          <a:xfrm>
            <a:off x="1005840" y="1463040"/>
            <a:ext cx="7132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u="sng" dirty="0">
                <a:solidFill>
                  <a:srgbClr val="A8DADC"/>
                </a:solidFill>
              </a:rPr>
              <a:t>https://</a:t>
            </a:r>
            <a:r>
              <a:rPr lang="en-US" sz="1200" u="sng" dirty="0" err="1">
                <a:solidFill>
                  <a:srgbClr val="A8DADC"/>
                </a:solidFill>
              </a:rPr>
              <a:t>github.com</a:t>
            </a:r>
            <a:r>
              <a:rPr lang="en-US" sz="1200" u="sng" dirty="0">
                <a:solidFill>
                  <a:srgbClr val="A8DADC"/>
                </a:solidFill>
              </a:rPr>
              <a:t>/abhishekjani123/Revolutionizing-Clinical-Safety-Explainable-AI-for-Adverse-Drug-Event-Detection.git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2743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Repository includes: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3108960"/>
            <a:ext cx="6858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</a:rPr>
              <a:t>Full Colab notebook with all experiments (reproducible, seed=42)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</a:rPr>
              <a:t>Result JSON files: Family A/B/C, SHAP, LIME, IG, negation, minimality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</a:rPr>
              <a:t>All 8 figures (flip rates, sensitivity ratio, error patterns, attention, comparisons)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</a:rPr>
              <a:t>Final report (REPORT_FINAL.md)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</a:rPr>
              <a:t>requirements.txt with pinned dependencies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6F51"/>
                </a:solidFill>
              </a:rPr>
              <a:t>APPENDIX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320040"/>
            <a:ext cx="64008" cy="4114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3A5F"/>
                </a:solidFill>
              </a:rPr>
              <a:t>Statistical Tests — Full Results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McNemar's Test (Family A vs Family C, paired n=4,270)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260556"/>
              </p:ext>
            </p:extLst>
          </p:nvPr>
        </p:nvGraphicFramePr>
        <p:xfrm>
          <a:off x="457200" y="1170432"/>
          <a:ext cx="4937760" cy="1336923"/>
        </p:xfrm>
        <a:graphic>
          <a:graphicData uri="http://schemas.openxmlformats.org/drawingml/2006/table">
            <a:tbl>
              <a:tblPr/>
              <a:tblGrid>
                <a:gridCol w="1615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73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6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82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3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C: Flipped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C: Not Flipped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Row Total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</a:rPr>
                        <a:t>A: Flipped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1,112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A9D8F"/>
                          </a:solidFill>
                        </a:rPr>
                        <a:t>2,123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3,235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</a:rPr>
                        <a:t>A: Not Flipped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295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740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1,035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</a:rPr>
                        <a:t>Col Total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1,407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2,863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4,270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577840" y="1170432"/>
            <a:ext cx="3200400" cy="1417320"/>
          </a:xfrm>
          <a:prstGeom prst="rect">
            <a:avLst/>
          </a:prstGeom>
          <a:solidFill>
            <a:srgbClr val="1E3A5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669280" y="123444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Test Statistic: </a:t>
            </a:r>
            <a:r>
              <a:rPr lang="en-US" sz="1200" b="1" dirty="0">
                <a:solidFill>
                  <a:srgbClr val="FFFFFF"/>
                </a:solidFill>
              </a:rPr>
              <a:t>1,380.45
</a:t>
            </a:r>
            <a:r>
              <a:rPr lang="en-US" sz="1200" dirty="0">
                <a:solidFill>
                  <a:srgbClr val="E2E8F0"/>
                </a:solidFill>
              </a:rPr>
              <a:t>p-value: </a:t>
            </a:r>
            <a:r>
              <a:rPr lang="en-US" sz="1200" b="1" dirty="0">
                <a:solidFill>
                  <a:srgbClr val="2A9D8F"/>
                </a:solidFill>
              </a:rPr>
              <a:t>3.72 × 10⁻³⁰²
</a:t>
            </a:r>
            <a:r>
              <a:rPr lang="en-US" sz="1200" dirty="0">
                <a:solidFill>
                  <a:srgbClr val="E2E8F0"/>
                </a:solidFill>
              </a:rPr>
              <a:t>Correction: </a:t>
            </a:r>
            <a:r>
              <a:rPr lang="en-US" sz="1200" dirty="0">
                <a:solidFill>
                  <a:srgbClr val="FFFFFF"/>
                </a:solidFill>
              </a:rPr>
              <a:t>Yates (exact=False)
</a:t>
            </a:r>
            <a:r>
              <a:rPr lang="en-US" sz="1200" dirty="0">
                <a:solidFill>
                  <a:srgbClr val="E2E8F0"/>
                </a:solidFill>
              </a:rPr>
              <a:t>Significant: </a:t>
            </a:r>
            <a:r>
              <a:rPr lang="en-US" sz="1200" b="1" dirty="0">
                <a:solidFill>
                  <a:srgbClr val="F4A261"/>
                </a:solidFill>
              </a:rPr>
              <a:t>YES ✓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65760" y="2543931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Bootstrap CI for Sensitivity Ratio (1,000 resamples, seed=42)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9638" y="2807208"/>
            <a:ext cx="8412480" cy="777240"/>
          </a:xfrm>
          <a:prstGeom prst="rect">
            <a:avLst/>
          </a:prstGeom>
          <a:solidFill>
            <a:srgbClr val="EBF8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29768" y="2843784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Sensitivity Ratio = </a:t>
            </a:r>
            <a:r>
              <a:rPr lang="en-US" sz="2000" b="1" dirty="0">
                <a:solidFill>
                  <a:srgbClr val="2A9D8F"/>
                </a:solidFill>
              </a:rPr>
              <a:t>2.46</a:t>
            </a:r>
            <a:r>
              <a:rPr lang="en-US" sz="1200" dirty="0">
                <a:solidFill>
                  <a:srgbClr val="1E3A5F"/>
                </a:solidFill>
              </a:rPr>
              <a:t>   (95% Bootstrap CI: [2.20, 2.41])   </a:t>
            </a:r>
            <a:r>
              <a:rPr lang="en-US" sz="1200" dirty="0">
                <a:solidFill>
                  <a:srgbClr val="64748B"/>
                </a:solidFill>
              </a:rPr>
              <a:t>Interpretation: </a:t>
            </a:r>
            <a:r>
              <a:rPr lang="en-US" sz="1200" dirty="0">
                <a:solidFill>
                  <a:srgbClr val="1E3A5F"/>
                </a:solidFill>
              </a:rPr>
              <a:t>Drug masking reliably flips 2.46× more sentences than symptom masking — not a chance finding.</a:t>
            </a:r>
            <a:endParaRPr lang="en-US" sz="1200" dirty="0"/>
          </a:p>
        </p:txBody>
      </p:sp>
      <p:sp>
        <p:nvSpPr>
          <p:cNvPr id="6" name="Text 9"/>
          <p:cNvSpPr/>
          <p:nvPr/>
        </p:nvSpPr>
        <p:spPr>
          <a:xfrm>
            <a:off x="274320" y="3615145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Wilson Score 95% Confidence Intervals (per flip rate)</a:t>
            </a:r>
            <a:endParaRPr lang="en-US" sz="13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697201"/>
              </p:ext>
            </p:extLst>
          </p:nvPr>
        </p:nvGraphicFramePr>
        <p:xfrm>
          <a:off x="349638" y="3935718"/>
          <a:ext cx="8412480" cy="10058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Experiment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Point Estimate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95% CI Lower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95% CI Upper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Family A — Drug Masking (ADE)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A9D8F"/>
                          </a:solidFill>
                        </a:rPr>
                        <a:t>74.5%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73.5%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75.6%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6,821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Family B — Brand Substitution (ADE)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76F51"/>
                          </a:solidFill>
                        </a:rPr>
                        <a:t>13.8%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12.9%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14.8%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5,142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Family C — Symptom Masking (ADE)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3A5F"/>
                          </a:solidFill>
                        </a:rPr>
                        <a:t>30.2%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29.2%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31.4%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6,820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6F51"/>
                </a:solidFill>
              </a:rPr>
              <a:t>APPENDIX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320040"/>
            <a:ext cx="64008" cy="4114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3A5F"/>
                </a:solidFill>
              </a:rPr>
              <a:t>Complete Flip Rate Results + Confidence Score Analysis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All Flip Rates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0610776"/>
              </p:ext>
            </p:extLst>
          </p:nvPr>
        </p:nvGraphicFramePr>
        <p:xfrm>
          <a:off x="365760" y="1055169"/>
          <a:ext cx="8412480" cy="164592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Experiment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Sentences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Flipped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Flip Rate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Mean Conf. Δ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Sub-thresh Drops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Family A — Drug Masking (ADE)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6,821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5,084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74.5%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A9D8F"/>
                          </a:solidFill>
                        </a:rPr>
                        <a:t>0.745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Family A — Drug Masking (non-ADE)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5,093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1.7%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Family B — Brand Substitution (all)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8,412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8.9%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Family B — Brand Substitution (ADE only)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5,142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76F51"/>
                          </a:solidFill>
                        </a:rPr>
                        <a:t>13.8%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0.137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Family C — Symptom Masking (ADE)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6,820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2,063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3A5F"/>
                          </a:solidFill>
                        </a:rPr>
                        <a:t>30.2%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3A5F"/>
                          </a:solidFill>
                        </a:rPr>
                        <a:t>0.302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665595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Key insight: Drug masking mean delta (0.745) is 2.5× higher than symptom masking (0.302) — the model is not just crossing a threshold, it is fundamentally losing its signal. 62 sub-threshold drops in Family A reveal additional hidden sensitivity beyond the binary flip rate.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74320" y="314445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Multi-Method Drug/Non-drug Importance Ratio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39217"/>
              </p:ext>
            </p:extLst>
          </p:nvPr>
        </p:nvGraphicFramePr>
        <p:xfrm>
          <a:off x="365760" y="3406140"/>
          <a:ext cx="8412480" cy="16459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Drug/Non-drug Ratio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Drug in Top-3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Sample Size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Interpretation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Attention (last layer, avg heads)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76F51"/>
                          </a:solidFill>
                        </a:rPr>
                        <a:t>0.59× 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 sentences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Only method that DISAGREES — attention is unfaithful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SHAP (Shapley values)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1.23×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67.9%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6,821 sentences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Drug tokens more important; 67.9% in top-3 across 6,821 sentences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Integrated Gradients (captum)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1.54×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80.3%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6,821 sentences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Convergent with SHAP (1.54×); 80.3% drug in top-3 across 6,821 sentences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Counterfactual Flip Rate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A9D8F"/>
                          </a:solidFill>
                        </a:rPr>
                        <a:t>2.46×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6,821 sentences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Causal measurement — strongest evidence basis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LIME (local surrogate, 500 samples)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76F51"/>
                          </a:solidFill>
                        </a:rPr>
                        <a:t>2.87×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95.3%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6,821 sentences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Strongest signal after counterfactual; 95.3% drug in top-3 across 6,821 sentences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6F51"/>
                </a:solidFill>
              </a:rPr>
              <a:t>APPENDIX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320040"/>
            <a:ext cx="64008" cy="4114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9768" y="31923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3A5F"/>
                </a:solidFill>
              </a:rPr>
              <a:t>Error Pattern Analysis — All Families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46888" y="77643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9D8F"/>
                </a:solidFill>
              </a:rPr>
              <a:t>Family A — Drug Masking (ADE sentences, n=6,821)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5955729"/>
              </p:ext>
            </p:extLst>
          </p:nvPr>
        </p:nvGraphicFramePr>
        <p:xfrm>
          <a:off x="338328" y="1050758"/>
          <a:ext cx="8229599" cy="1353312"/>
        </p:xfrm>
        <a:graphic>
          <a:graphicData uri="http://schemas.openxmlformats.org/drawingml/2006/table">
            <a:tbl>
              <a:tblPr/>
              <a:tblGrid>
                <a:gridCol w="17890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6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35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Segmentation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Breakdown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Finding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3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Sentence length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1–15 words: 75.0% (n=2,306)  |  16–30: 74.0% (n=3,440)  |  31–50: 75.4% (n=1,019)  |  51+: 71.4% (n=56)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Flip rate flat — longer sentences with more context do NOT reduce drug reliance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3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Drug mention 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 drug: 76.4% (n=4,177)  |  2 drugs: 71.7% (n=1,819)  |  3+ drugs: 71.3% (n=825)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Slight redundancy when multiple drugs present, but &gt;71% in all cases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13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Causal marker presence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With marker: 74.5% (n=3,558)  |  Without: 74.6% (n=3,263)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Near-identical — model does NOT use causal language as a signal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46887" y="240407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Paired Failure Mode Analysis (Family A vs Family C, n=4,270 matched sentences)</a:t>
            </a:r>
            <a:endParaRPr lang="en-US" sz="12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6307937"/>
              </p:ext>
            </p:extLst>
          </p:nvPr>
        </p:nvGraphicFramePr>
        <p:xfrm>
          <a:off x="338327" y="2678390"/>
          <a:ext cx="8229600" cy="1280160"/>
        </p:xfrm>
        <a:graphic>
          <a:graphicData uri="http://schemas.openxmlformats.org/drawingml/2006/table">
            <a:tbl>
              <a:tblPr/>
              <a:tblGrid>
                <a:gridCol w="25046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4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64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Outcome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% of Paired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Interpretation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A9D8F"/>
                          </a:solidFill>
                        </a:rPr>
                        <a:t>Only drug masking flipped (A only)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A9D8F"/>
                          </a:solidFill>
                        </a:rPr>
                        <a:t>2,123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A9D8F"/>
                          </a:solidFill>
                        </a:rPr>
                        <a:t>49.7%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Drug tokens are uniquely causal — symptom removal insufficient to flip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Both drug AND symptom masking flipped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1,112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26.0%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Both token classes contribute causally to these predictions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Neither drug nor symptom masking flipped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17.3%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Model relies on structural/co-occurrence patterns — token masking insufficient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Only symptom masking flipped (C only)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Small subset where symptom context is the primary causal driver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246887" y="3945235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Family C — Symptom Masking (ADE, n=6,820 matched)</a:t>
            </a:r>
            <a:endParaRPr lang="en-US" sz="1200" dirty="0"/>
          </a:p>
        </p:txBody>
      </p:sp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5744470"/>
              </p:ext>
            </p:extLst>
          </p:nvPr>
        </p:nvGraphicFramePr>
        <p:xfrm>
          <a:off x="338327" y="4198620"/>
          <a:ext cx="8412480" cy="85344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54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Symptom vocabulary size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2,983 terms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Extracted from ADE-Corpus V2 relation split effect column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4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Sentences excluded (no symptom match)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 / 6,821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Near-complete coverage — 99.99% of ADE sentences had at least one symptom term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54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Flip rate vs Family A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30.2% vs 74.5%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44.3 percentage point gap — the core evidence for H3 (Sensitivity Ratio 2.46×)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6F51"/>
                </a:solidFill>
              </a:rPr>
              <a:t>APPENDIX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320040"/>
            <a:ext cx="64008" cy="4114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3A5F"/>
                </a:solidFill>
              </a:rPr>
              <a:t>Negation Counterfactuals — Full Results</a:t>
            </a:r>
            <a:endParaRPr lang="en-US" sz="2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777240"/>
          <a:ext cx="51206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669280" y="822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Summary Statistics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143000"/>
          <a:ext cx="3108960" cy="20116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Total sampled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Pattern-matched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152 (50.7%)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Excluded (no match)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148 (49.3%)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Overall flip rate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A9D8F"/>
                          </a:solidFill>
                        </a:rPr>
                        <a:t>57.2%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Ignore negation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76F51"/>
                          </a:solidFill>
                        </a:rPr>
                        <a:t>42.8%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Mean conf. delta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0.569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Sub-thresh (≥0.10)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 sentences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0" y="3200400"/>
            <a:ext cx="3108960" cy="1188720"/>
          </a:xfrm>
          <a:prstGeom prst="rect">
            <a:avLst/>
          </a:prstGeom>
          <a:solidFill>
            <a:srgbClr val="E76F51"/>
          </a:solidFill>
          <a:ln/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5669280" y="32461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Clinical Safety Alert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760720" y="356616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'reported' pattern: only 7.1% flip rate. 'Patient did NOT report ADE' ≈ 'Patient reported ADE' to the model. 92.9% of negation is ignored.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</a:rPr>
              <a:t>Patterns where model correctly responds to negation: 'developed' (74.5%), 'induced' (59.1%), 'caused' (57.1%). Model partially respects strong causal verbs but almost completely ignores passive/indirect expressions.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6F51"/>
                </a:solidFill>
              </a:rPr>
              <a:t>APPENDIX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320040"/>
            <a:ext cx="64008" cy="4114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3A5F"/>
                </a:solidFill>
              </a:rPr>
              <a:t>Counterfactual Minimality &amp; SHAP Interaction Analysis</a:t>
            </a:r>
            <a:endParaRPr lang="en-US" sz="22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908257255"/>
              </p:ext>
            </p:extLst>
          </p:nvPr>
        </p:nvGraphicFramePr>
        <p:xfrm>
          <a:off x="548640" y="777240"/>
          <a:ext cx="4754880" cy="29077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486400" y="822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Minimality Summary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143000"/>
          <a:ext cx="3291840" cy="20116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Sentences analyzed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1 drug token sufficient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A9D8F"/>
                          </a:solidFill>
                        </a:rPr>
                        <a:t>164 (82.0%)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 drug tokens needed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28 (14.0%)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 drug tokens needed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6 (3.0%)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4–5 tokens needed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2 (1.0%)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Multi-drug sentences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73 (36.5%)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Of those, redundant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36/73 (49.3%)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0" y="31546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Key insight: 82% of sentences flip with just ONE drug token masked — the model's drug reliance is highly concentrated, not distributed. Even in sentences with multiple drug mentions, masking one is sufficient in 4 out of 5 cases.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365760" y="3709576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SHAP Token Interaction Analysis (n=10 sentences)</a:t>
            </a:r>
            <a:endParaRPr lang="en-US" sz="12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04242"/>
              </p:ext>
            </p:extLst>
          </p:nvPr>
        </p:nvGraphicFramePr>
        <p:xfrm>
          <a:off x="288758" y="3985741"/>
          <a:ext cx="8412480" cy="10668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Interpretation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Mean same-direction rate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A9D8F"/>
                          </a:solidFill>
                        </a:rPr>
                        <a:t>88.6%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Drug and context tokens cooperate — both push toward ADE together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Mean top drug SHAP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+0.129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Drug tokens have positive contribution to ADE prediction on average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Mean top context SHAP (abs)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0.135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Context tokens contribute comparably, but are not sufficient alone (see minimality)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Competitive pairs (opposite dir.)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11.4%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Minority of cases where context pushes back against drug signal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2082</Words>
  <Application>Microsoft Macintosh PowerPoint</Application>
  <PresentationFormat>On-screen Show (16:9)</PresentationFormat>
  <Paragraphs>397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Are Drug Mentions What Really Drive ADE Predictions?</dc:title>
  <dc:subject>PptxGenJS Presentation</dc:subject>
  <dc:creator>Abhishek Jani, Shrey Patel, Mustafa Adil</dc:creator>
  <cp:lastModifiedBy>Abhishek Vasantkumar Jani</cp:lastModifiedBy>
  <cp:revision>3</cp:revision>
  <dcterms:created xsi:type="dcterms:W3CDTF">2026-05-03T17:55:56Z</dcterms:created>
  <dcterms:modified xsi:type="dcterms:W3CDTF">2026-05-03T21:05:50Z</dcterms:modified>
</cp:coreProperties>
</file>